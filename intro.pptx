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gwvyuRsBtDyWzXUMDbyEBV6mD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1097280" y="729417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Times New Roman"/>
              <a:buNone/>
              <a:defRPr sz="6000" strike="noStrike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1132190" y="137820"/>
            <a:ext cx="10051909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1191264" y="1566333"/>
            <a:ext cx="9964416" cy="43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Times New Roman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9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1132190" y="137820"/>
            <a:ext cx="10051909" cy="68580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>
            <a:spLocks noGrp="1"/>
          </p:cNvSpPr>
          <p:nvPr>
            <p:ph type="body" idx="1"/>
          </p:nvPr>
        </p:nvSpPr>
        <p:spPr>
          <a:xfrm rot="5400000">
            <a:off x="4022092" y="-1264494"/>
            <a:ext cx="4302761" cy="996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>
            <a:off x="1132190" y="137820"/>
            <a:ext cx="10051909" cy="68580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title"/>
          </p:nvPr>
        </p:nvSpPr>
        <p:spPr>
          <a:xfrm>
            <a:off x="1132190" y="137820"/>
            <a:ext cx="10051909" cy="68580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641491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1191263" y="139913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  <a:defRPr sz="4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1191264" y="1566333"/>
            <a:ext cx="9964416" cy="43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ftr" idx="11"/>
          </p:nvPr>
        </p:nvSpPr>
        <p:spPr>
          <a:xfrm>
            <a:off x="3686185" y="6462889"/>
            <a:ext cx="4766371" cy="39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5"/>
          <p:cNvCxnSpPr/>
          <p:nvPr/>
        </p:nvCxnSpPr>
        <p:spPr>
          <a:xfrm>
            <a:off x="1193532" y="1064451"/>
            <a:ext cx="1005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jay.cse@iitbhu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ajay.cse@iitbhu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38600" y="1662354"/>
            <a:ext cx="10954743" cy="1221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Times New Roman"/>
              <a:buNone/>
            </a:pPr>
            <a:r>
              <a:rPr lang="en-US" sz="3200"/>
              <a:t>CSE515: Advanced Communications Networks and Systems</a:t>
            </a:r>
            <a:endParaRPr sz="3200"/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1138782" y="3251200"/>
            <a:ext cx="10028025" cy="266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 dirty="0">
                <a:solidFill>
                  <a:srgbClr val="002060"/>
                </a:solidFill>
              </a:rPr>
              <a:t> Dr. Ajay Pratap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 b="1" dirty="0">
                <a:solidFill>
                  <a:srgbClr val="008000"/>
                </a:solidFill>
              </a:rPr>
              <a:t>Associate Professor, Dept. of CSE, IIT (BHU) Varanasi, India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 b="1" dirty="0">
              <a:solidFill>
                <a:srgbClr val="008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ajay.cse@iitbhu.ac.in</a:t>
            </a:r>
            <a:r>
              <a:rPr lang="en-US" sz="2000" u="sng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 </a:t>
            </a:r>
            <a:endParaRPr sz="2000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sz="2000" b="1" dirty="0">
              <a:solidFill>
                <a:srgbClr val="3366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 b="1"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800" dirty="0"/>
          </a:p>
        </p:txBody>
      </p:sp>
      <p:pic>
        <p:nvPicPr>
          <p:cNvPr id="95" name="Google Shape;95;p1" descr="MEDIA KIT | SAIC-IIT BHU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54884" y="1"/>
            <a:ext cx="2205719" cy="1337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1165863" y="1278467"/>
            <a:ext cx="9964416" cy="483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>
                <a:solidFill>
                  <a:schemeClr val="dk1"/>
                </a:solidFill>
              </a:rPr>
              <a:t> Prerequisite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>
                <a:solidFill>
                  <a:schemeClr val="dk1"/>
                </a:solidFill>
              </a:rPr>
              <a:t> Goal of the course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>
                <a:solidFill>
                  <a:schemeClr val="dk1"/>
                </a:solidFill>
              </a:rPr>
              <a:t> Grading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>
                <a:solidFill>
                  <a:schemeClr val="dk1"/>
                </a:solidFill>
              </a:rPr>
              <a:t> Project 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>
                <a:solidFill>
                  <a:schemeClr val="dk1"/>
                </a:solidFill>
              </a:rPr>
              <a:t> Homework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>
                <a:solidFill>
                  <a:schemeClr val="dk1"/>
                </a:solidFill>
              </a:rPr>
              <a:t> Summary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Prerequisite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98880" y="1412240"/>
            <a:ext cx="10109100" cy="41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Protocol Layers: ISO/OSI reference model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Physical Layer: Nyquist/Shannon theorems, Coding, Manchester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Transmission Media: UTP, Cat 5, Microwave, Radio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Communication: Asynchronous vs synchronous, Baud, bit, and          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Hz,  Half-Duplex vs Full-duplex, Modulation/Demodulation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Packet Transmissions: Framing, Bit stuffing, byte stuffing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 Control: On-Off, Window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Error Detection: Parity, Checksum, Cyclic Redundancy Check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Error Recovery: Start and Stop, Go back </a:t>
            </a:r>
            <a:r>
              <a:rPr lang="en-US" sz="2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n,</a:t>
            </a: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Selective Reject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Prerequisite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198880" y="1412240"/>
            <a:ext cx="10109100" cy="37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LANs: Aloha, CSMA/CD, Ethernet, IEEE 802.3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 Addressing: Unicast vs multicast, Local vs Global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 wiring: 10Base5, 10Base2, 10Base-T, 100Base-T4,  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100Base-TX, 100Base-FX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Extended LANs: Hubs, Bridges, Routers, Switches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Routing: Distance Vector vs Link State, Spanning tree, source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routing</a:t>
            </a:r>
            <a:endParaRPr sz="2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❑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Network Layer: Connectionless vs connection oriented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1132190" y="137820"/>
            <a:ext cx="10051909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/>
              <a:t>Goal of this Course</a:t>
            </a:r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1132189" y="1368808"/>
            <a:ext cx="10208400" cy="43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solidFill>
                  <a:schemeClr val="dk1"/>
                </a:solidFill>
              </a:rPr>
              <a:t> Comprehensive course on wireless, IoT and mobile networking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solidFill>
                  <a:schemeClr val="dk1"/>
                </a:solidFill>
              </a:rPr>
              <a:t> Broad coverage of current key areas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solidFill>
                  <a:schemeClr val="dk1"/>
                </a:solidFill>
              </a:rPr>
              <a:t> Intro to physical layer “Wireless Communication”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solidFill>
                  <a:schemeClr val="dk1"/>
                </a:solidFill>
              </a:rPr>
              <a:t> Emphasis on Higher layers: Layers 2, 3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solidFill>
                  <a:schemeClr val="dk1"/>
                </a:solidFill>
              </a:rPr>
              <a:t> Emphasize both present (Industry standards and products) and near future (Research)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2200">
                <a:solidFill>
                  <a:schemeClr val="dk1"/>
                </a:solidFill>
              </a:rPr>
              <a:t> Advanced Topics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</a:rPr>
              <a:t> Less reliance on one textbook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</a:rPr>
              <a:t> Lot of independent reading and writing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</a:rPr>
              <a:t> Survey paper (Research techniques)</a:t>
            </a:r>
            <a:endParaRPr sz="22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</a:rPr>
              <a:t> Peer-Reviews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1132190" y="137820"/>
            <a:ext cx="10051909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/>
              <a:t>Text Book</a:t>
            </a:r>
            <a:endParaRPr/>
          </a:p>
        </p:txBody>
      </p:sp>
      <p:sp>
        <p:nvSpPr>
          <p:cNvPr id="129" name="Google Shape;129;p6"/>
          <p:cNvSpPr txBox="1">
            <a:spLocks noGrp="1"/>
          </p:cNvSpPr>
          <p:nvPr>
            <p:ph type="body" idx="1"/>
          </p:nvPr>
        </p:nvSpPr>
        <p:spPr>
          <a:xfrm>
            <a:off x="1191264" y="1566333"/>
            <a:ext cx="9964416" cy="43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70000" lnSpcReduction="10000"/>
          </a:bodyPr>
          <a:lstStyle/>
          <a:p>
            <a:pPr marL="91440" lvl="0" indent="-1600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sz="3600">
                <a:solidFill>
                  <a:schemeClr val="dk1"/>
                </a:solidFill>
              </a:rPr>
              <a:t>There is no one book that covers the breadth of the material in this course</a:t>
            </a:r>
            <a:endParaRPr sz="3600">
              <a:solidFill>
                <a:schemeClr val="dk1"/>
              </a:solidFill>
            </a:endParaRPr>
          </a:p>
          <a:p>
            <a:pPr marL="91440" lvl="0" indent="-16002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sz="3600">
                <a:solidFill>
                  <a:schemeClr val="dk1"/>
                </a:solidFill>
              </a:rPr>
              <a:t>There will be a reading list with each lecture. The list will include some books, web sites, research papers </a:t>
            </a:r>
            <a:endParaRPr sz="3600">
              <a:solidFill>
                <a:schemeClr val="dk1"/>
              </a:solidFill>
            </a:endParaRPr>
          </a:p>
          <a:p>
            <a:pPr marL="91440" lvl="0" indent="-16002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sz="3600">
                <a:solidFill>
                  <a:schemeClr val="dk1"/>
                </a:solidFill>
              </a:rPr>
              <a:t>Some Books may be followed and other are given in Syllabus:</a:t>
            </a:r>
            <a:endParaRPr sz="3600">
              <a:solidFill>
                <a:schemeClr val="dk1"/>
              </a:solidFill>
            </a:endParaRPr>
          </a:p>
          <a:p>
            <a:pPr marL="91440" lvl="2" indent="-10890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50">
                <a:solidFill>
                  <a:schemeClr val="dk1"/>
                </a:solidFill>
              </a:rPr>
              <a:t> The Future of Wireless Networks: Architecture, Protocols and Services by Mohesen Guizani, Hsiao-Hwa Chen, Chonggang Wang</a:t>
            </a:r>
            <a:endParaRPr sz="2450">
              <a:solidFill>
                <a:schemeClr val="dk1"/>
              </a:solidFill>
            </a:endParaRPr>
          </a:p>
          <a:p>
            <a:pPr marL="91440" lvl="2" indent="-108902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50">
                <a:solidFill>
                  <a:schemeClr val="dk1"/>
                </a:solidFill>
              </a:rPr>
              <a:t>      Wireless Networks and Communications by Samson Colon</a:t>
            </a:r>
            <a:endParaRPr sz="2450">
              <a:solidFill>
                <a:schemeClr val="dk1"/>
              </a:solidFill>
            </a:endParaRPr>
          </a:p>
          <a:p>
            <a:pPr marL="566928" lvl="2" indent="-17430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50">
                <a:solidFill>
                  <a:schemeClr val="dk1"/>
                </a:solidFill>
              </a:rPr>
              <a:t>Wireless AI: Wireless Sensing, Positioning, IoT and Communications by K. J. Ray Liu, Beibei Wang </a:t>
            </a:r>
            <a:endParaRPr sz="2450">
              <a:solidFill>
                <a:schemeClr val="dk1"/>
              </a:solidFill>
            </a:endParaRPr>
          </a:p>
          <a:p>
            <a:pPr marL="566928" lvl="2" indent="-17430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50">
                <a:solidFill>
                  <a:schemeClr val="dk1"/>
                </a:solidFill>
              </a:rPr>
              <a:t>Wireless Communication Systems: An Introduction by Haupt</a:t>
            </a:r>
            <a:endParaRPr sz="2450">
              <a:solidFill>
                <a:schemeClr val="dk1"/>
              </a:solidFill>
            </a:endParaRPr>
          </a:p>
          <a:p>
            <a:pPr marL="566928" lvl="2" indent="-17430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50">
                <a:solidFill>
                  <a:schemeClr val="dk1"/>
                </a:solidFill>
              </a:rPr>
              <a:t>Recent advances in Wireless Communication and Networks by Jia-Chin Lin</a:t>
            </a:r>
            <a:endParaRPr sz="2450">
              <a:solidFill>
                <a:schemeClr val="dk1"/>
              </a:solidFill>
            </a:endParaRPr>
          </a:p>
          <a:p>
            <a:pPr marL="91440" lvl="2" indent="-9144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endParaRPr sz="1900">
              <a:solidFill>
                <a:schemeClr val="dk1"/>
              </a:solidFill>
            </a:endParaRPr>
          </a:p>
          <a:p>
            <a:pPr marL="91440" lvl="2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endParaRPr sz="3000">
              <a:solidFill>
                <a:schemeClr val="dk1"/>
              </a:solidFill>
            </a:endParaRPr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body" idx="1"/>
          </p:nvPr>
        </p:nvSpPr>
        <p:spPr>
          <a:xfrm>
            <a:off x="1191264" y="1193801"/>
            <a:ext cx="9984736" cy="513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A hands-on (implementation or measurement) project of your choice</a:t>
            </a:r>
            <a:endParaRPr sz="2600">
              <a:solidFill>
                <a:schemeClr val="dk1"/>
              </a:solidFill>
            </a:endParaRPr>
          </a:p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600">
                <a:solidFill>
                  <a:schemeClr val="dk1"/>
                </a:solidFill>
              </a:rPr>
              <a:t> approved by the instructor.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Teams of 4 allowed for hands-on project.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Stages: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</a:rPr>
              <a:t> Literature survey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Char char="⮚"/>
            </a:pPr>
            <a:r>
              <a:rPr lang="en-US" sz="2600">
                <a:solidFill>
                  <a:schemeClr val="dk1"/>
                </a:solidFill>
              </a:rPr>
              <a:t> Reading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</a:rPr>
              <a:t> Implementation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</a:rPr>
              <a:t> Writing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⮚"/>
            </a:pPr>
            <a:r>
              <a:rPr lang="en-US" sz="2600">
                <a:solidFill>
                  <a:schemeClr val="dk1"/>
                </a:solidFill>
              </a:rPr>
              <a:t> Submission</a:t>
            </a:r>
            <a:endParaRPr sz="2600">
              <a:solidFill>
                <a:schemeClr val="dk1"/>
              </a:solidFill>
            </a:endParaRPr>
          </a:p>
          <a:p>
            <a:pPr marL="91440" lvl="0" indent="-91440" algn="l" rtl="0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 sz="2600">
              <a:solidFill>
                <a:schemeClr val="dk1"/>
              </a:solidFill>
            </a:endParaRPr>
          </a:p>
        </p:txBody>
      </p:sp>
      <p:sp>
        <p:nvSpPr>
          <p:cNvPr id="136" name="Google Shape;136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1148956" y="1441581"/>
            <a:ext cx="10389516" cy="421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Virtualization in Wireless Networks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Energy Efficiency in Wireless Networking Protocols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Wireless Power Transfer – Concepts and Applications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Wireless Networks for Disaster Relief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Wireless Based Indoor Localization Technologies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Recent Advances in Broadband Wireless Access Networks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Recent Advances in Cognitive Radios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Constrained Application Protocol for Internet of Things</a:t>
            </a:r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Potential Projects but not limited to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body" idx="1"/>
          </p:nvPr>
        </p:nvSpPr>
        <p:spPr>
          <a:xfrm>
            <a:off x="1148956" y="1441581"/>
            <a:ext cx="10389516" cy="421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91440" lvl="0" indent="-14033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5G/6G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Vehicular Networks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AR/VR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Mobile Based Augmented Reality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Mobile Cloud Computing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Smart Grid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Smart Grid: Trends in Power Market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The Future of Networking: The Green Movement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Smart Healthcare, WBAN</a:t>
            </a:r>
            <a:endParaRPr/>
          </a:p>
          <a:p>
            <a:pPr marL="91440" lvl="0" indent="-140335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</a:rPr>
              <a:t> UAV, Drones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50" name="Google Shape;150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Potential Projects but not limited to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>
            <a:spLocks noGrp="1"/>
          </p:cNvSpPr>
          <p:nvPr>
            <p:ph type="body" idx="1"/>
          </p:nvPr>
        </p:nvSpPr>
        <p:spPr>
          <a:xfrm>
            <a:off x="1140464" y="1383453"/>
            <a:ext cx="9964416" cy="43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005825" bIns="45700" anchor="t" anchorCtr="0">
            <a:no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Recent Developments: Last 1 to 3 years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Generally not in books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Comprehensive Survey: Technical Papers, Industry Standards, Products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Better ones may be submitted to magazines or journals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No copyright violations: You need to re-draw all figures, any unmodified figures need permissions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You need to summarize all ideas in your *own* words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Cannot copy any part of text or figure unmodified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Short quotes ok</a:t>
            </a:r>
            <a:endParaRPr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 Any infringement will result in forfeiture of grades</a:t>
            </a:r>
            <a:endParaRPr/>
          </a:p>
        </p:txBody>
      </p:sp>
      <p:sp>
        <p:nvSpPr>
          <p:cNvPr id="157" name="Google Shape;157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Requirements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>
            <a:spLocks noGrp="1"/>
          </p:cNvSpPr>
          <p:nvPr>
            <p:ph type="body" idx="1"/>
          </p:nvPr>
        </p:nvSpPr>
        <p:spPr>
          <a:xfrm>
            <a:off x="1191264" y="1566333"/>
            <a:ext cx="9964416" cy="43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005825" bIns="45700" anchor="t" anchorCtr="0">
            <a:no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All homeworks are due by a hard deadline</a:t>
            </a:r>
            <a:endParaRPr sz="2600"/>
          </a:p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Any late submissions, if allowed, will *always* have a penalty</a:t>
            </a:r>
            <a:endParaRPr sz="26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Grading basis: Method + Correct answer</a:t>
            </a:r>
            <a:endParaRPr sz="26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Show how you got your answer</a:t>
            </a:r>
            <a:endParaRPr sz="26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Show intermediate calculations.</a:t>
            </a:r>
            <a:endParaRPr sz="26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Show equations or formulas used.</a:t>
            </a:r>
            <a:endParaRPr sz="2600"/>
          </a:p>
          <a:p>
            <a:pPr marL="91440" lvl="0" indent="-9144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❑"/>
            </a:pPr>
            <a:r>
              <a:rPr lang="en-US" sz="2600"/>
              <a:t> If you use a spreadsheet, a statistical package, or write a program, print it out and turn it in with the homework.</a:t>
            </a:r>
            <a:endParaRPr sz="2600"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 sz="2600">
              <a:solidFill>
                <a:srgbClr val="FF0000"/>
              </a:solidFill>
            </a:endParaRPr>
          </a:p>
        </p:txBody>
      </p:sp>
      <p:sp>
        <p:nvSpPr>
          <p:cNvPr id="164" name="Google Shape;164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Homework Submission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body" idx="1"/>
          </p:nvPr>
        </p:nvSpPr>
        <p:spPr>
          <a:xfrm>
            <a:off x="1191264" y="1566333"/>
            <a:ext cx="9964416" cy="43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005825" bIns="45700" anchor="t" anchorCtr="0">
            <a:normAutofit/>
          </a:bodyPr>
          <a:lstStyle/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</a:rPr>
              <a:t> Goal: To prepare you for the current job market in networking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</a:rPr>
              <a:t> Teach you how to keep up with the latest in networking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</a:rPr>
              <a:t> There will be a significant amount of self-reading and writing</a:t>
            </a:r>
            <a:endParaRPr/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</a:rPr>
              <a:t> Get ready to work hard!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1" name="Google Shape;171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2" name="Google Shape;172;p12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1239414" y="1397358"/>
            <a:ext cx="9964500" cy="43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005825" bIns="45700" anchor="t" anchorCtr="0">
            <a:noAutofit/>
          </a:bodyPr>
          <a:lstStyle/>
          <a:p>
            <a:pPr marL="91440" lvl="0" indent="-914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Search web pages, books, and journal articles from IEEE </a:t>
            </a:r>
            <a:r>
              <a:rPr lang="en-US" dirty="0" err="1">
                <a:solidFill>
                  <a:schemeClr val="dk1"/>
                </a:solidFill>
              </a:rPr>
              <a:t>XPlorer</a:t>
            </a:r>
            <a:r>
              <a:rPr lang="en-US" dirty="0">
                <a:solidFill>
                  <a:schemeClr val="dk1"/>
                </a:solidFill>
              </a:rPr>
              <a:t>, ACM Digital Library, IIT (BHU) Varanasi library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Following topics: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    1. Wireless Networking Trends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    2. Mobile Networking Trends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    3. Internet of Things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   4. Quantum Communication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 Ignore all entries dated 2020 or before. Also ignore all entries that do not indicate topic or similar words in the title. List others in the following format (5):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dirty="0">
                <a:solidFill>
                  <a:schemeClr val="dk1"/>
                </a:solidFill>
              </a:rPr>
              <a:t> “Title,” URL [One line description] (for 2 web pages)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dirty="0">
                <a:solidFill>
                  <a:schemeClr val="dk1"/>
                </a:solidFill>
              </a:rPr>
              <a:t>  Author, “Title,” source (for  technical/magazine articles)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 Form a group of maximum three students</a:t>
            </a:r>
            <a:endParaRPr dirty="0">
              <a:solidFill>
                <a:schemeClr val="dk1"/>
              </a:solidFill>
            </a:endParaRPr>
          </a:p>
          <a:p>
            <a:pPr marL="91440" lvl="0" indent="-9144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 Deadline of submission</a:t>
            </a:r>
            <a:r>
              <a:rPr lang="en-US">
                <a:solidFill>
                  <a:schemeClr val="dk1"/>
                </a:solidFill>
              </a:rPr>
              <a:t>: </a:t>
            </a:r>
            <a:r>
              <a:rPr lang="en-US">
                <a:solidFill>
                  <a:srgbClr val="FF0000"/>
                </a:solidFill>
              </a:rPr>
              <a:t>8.08.2026</a:t>
            </a:r>
            <a:r>
              <a:rPr lang="en-US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1192418" y="163618"/>
            <a:ext cx="10058400" cy="822960"/>
          </a:xfrm>
          <a:prstGeom prst="rect">
            <a:avLst/>
          </a:prstGeom>
          <a:solidFill>
            <a:srgbClr val="B0CCB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Homework 1</a:t>
            </a:r>
            <a:endParaRPr sz="4000" b="0" i="0" u="none" strike="noStrike" cap="non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4294967295"/>
          </p:nvPr>
        </p:nvSpPr>
        <p:spPr>
          <a:xfrm>
            <a:off x="1611283" y="1120278"/>
            <a:ext cx="96012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>
                <a:solidFill>
                  <a:srgbClr val="FF0000"/>
                </a:solidFill>
              </a:rPr>
              <a:t>Thanks!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400"/>
              <a:buNone/>
            </a:pPr>
            <a:r>
              <a:rPr lang="en-US" sz="4400">
                <a:solidFill>
                  <a:srgbClr val="FF0000"/>
                </a:solidFill>
              </a:rPr>
              <a:t>Any Questions?</a:t>
            </a:r>
            <a:endParaRPr sz="4400">
              <a:solidFill>
                <a:srgbClr val="FF0000"/>
              </a:solidFill>
            </a:endParaRPr>
          </a:p>
        </p:txBody>
      </p:sp>
      <p:pic>
        <p:nvPicPr>
          <p:cNvPr id="186" name="Google Shape;18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5889" y="2711996"/>
            <a:ext cx="1415451" cy="191872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/>
        </p:nvSpPr>
        <p:spPr>
          <a:xfrm>
            <a:off x="4501196" y="5125803"/>
            <a:ext cx="382137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Ajay Pratap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ajay.cse@iitbhu.ac.in</a:t>
            </a:r>
            <a:r>
              <a:rPr lang="en-US" sz="18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Foundry">
      <a:dk1>
        <a:srgbClr val="000000"/>
      </a:dk1>
      <a:lt1>
        <a:srgbClr val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963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Noto Sans Symbols</vt:lpstr>
      <vt:lpstr>Times New Roman</vt:lpstr>
      <vt:lpstr>Retrospect</vt:lpstr>
      <vt:lpstr>CSE515: Advanced Communications Networks and Systems</vt:lpstr>
      <vt:lpstr>Contents</vt:lpstr>
      <vt:lpstr>PowerPoint Presentation</vt:lpstr>
      <vt:lpstr>PowerPoint Presentation</vt:lpstr>
      <vt:lpstr>Goal of this Course</vt:lpstr>
      <vt:lpstr>Text 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Ragini Gupta</dc:creator>
  <cp:lastModifiedBy>Ajay Pratap</cp:lastModifiedBy>
  <cp:revision>1</cp:revision>
  <dcterms:created xsi:type="dcterms:W3CDTF">2019-05-31T12:49:41Z</dcterms:created>
  <dcterms:modified xsi:type="dcterms:W3CDTF">2026-08-03T14:01:17Z</dcterms:modified>
</cp:coreProperties>
</file>